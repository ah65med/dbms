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67" r:id="rId7"/>
    <p:sldId id="261" r:id="rId8"/>
    <p:sldId id="270" r:id="rId9"/>
    <p:sldId id="268" r:id="rId10"/>
    <p:sldId id="260" r:id="rId11"/>
    <p:sldId id="272" r:id="rId12"/>
    <p:sldId id="273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EB1F8A-3EE3-4D98-98F4-5DE30B691610}" v="265" dt="2024-06-24T20:51:14.625"/>
    <p1510:client id="{648A02E3-1A80-07D5-D2EE-26256D180A9C}" v="1056" dt="2024-06-24T21:19:54.632"/>
    <p1510:client id="{D6B7B6E2-F2AF-4EC9-A830-180E7774D150}" v="4" dt="2024-06-24T18:45:07.471"/>
  </p1510:revLst>
</p1510:revInfo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-694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25-Jun-24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25-Jun-24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56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6865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25-Jun-24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7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25-Jun-24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008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25-Jun-24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6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25-Jun-24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428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25-Jun-24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7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25-Jun-24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3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fram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25-Jun-24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69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fram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25-Jun-24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9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25-Jun-24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0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25-Jun-24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64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25-Jun-24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594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546461" cy="2667000"/>
          </a:xfrm>
        </p:spPr>
        <p:txBody>
          <a:bodyPr/>
          <a:lstStyle/>
          <a:p>
            <a:r>
              <a:rPr lang="en-US" dirty="0"/>
              <a:t>Airline </a:t>
            </a:r>
            <a:r>
              <a:rPr lang="en-US" dirty="0" err="1"/>
              <a:t>Mangement</a:t>
            </a:r>
            <a:r>
              <a:rPr lang="en-US" dirty="0"/>
              <a:t>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28246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/>
              <a:t>DT-22002           Neha Laeeq</a:t>
            </a:r>
          </a:p>
          <a:p>
            <a:r>
              <a:rPr lang="en-US"/>
              <a:t>DT-22008           Syeda Fatima</a:t>
            </a:r>
          </a:p>
          <a:p>
            <a:r>
              <a:rPr lang="en-US"/>
              <a:t>DT-22037            Shayan</a:t>
            </a:r>
          </a:p>
          <a:p>
            <a:r>
              <a:rPr lang="en-US"/>
              <a:t>DT-22041           Ahmed Hasan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Contents</a:t>
            </a:r>
            <a:r>
              <a:rPr lang="en-US"/>
              <a:t> 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</a:pPr>
            <a:r>
              <a:rPr lang="en-US" sz="3200">
                <a:latin typeface="+mj-lt"/>
                <a:ea typeface="+mj-ea"/>
                <a:cs typeface="+mj-cs"/>
              </a:rPr>
              <a:t>Introduction/Abstract</a:t>
            </a:r>
          </a:p>
          <a:p>
            <a: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</a:pPr>
            <a:r>
              <a:rPr lang="en-US" sz="3200">
                <a:latin typeface="+mj-lt"/>
                <a:ea typeface="+mj-ea"/>
                <a:cs typeface="+mj-cs"/>
              </a:rPr>
              <a:t>ERD</a:t>
            </a:r>
          </a:p>
          <a:p>
            <a: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</a:pPr>
            <a:r>
              <a:rPr lang="en-US" sz="3200">
                <a:latin typeface="+mj-lt"/>
                <a:ea typeface="+mj-ea"/>
                <a:cs typeface="+mj-cs"/>
              </a:rPr>
              <a:t>Normalization</a:t>
            </a:r>
          </a:p>
          <a:p>
            <a: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</a:pPr>
            <a:r>
              <a:rPr lang="en-US" sz="3200">
                <a:latin typeface="+mj-lt"/>
                <a:ea typeface="+mj-ea"/>
                <a:cs typeface="+mj-cs"/>
              </a:rPr>
              <a:t>SQL queries and outputs</a:t>
            </a: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US" sz="3600"/>
              <a:t/>
            </a:r>
            <a:br>
              <a:rPr lang="en-US" sz="3600"/>
            </a:br>
            <a:r>
              <a:rPr lang="en-US" sz="3600"/>
              <a:t>Abstract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AA515D4-6773-5317-2DB0-B2D6133FE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159" y="1962510"/>
            <a:ext cx="5210146" cy="42240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Char char="•"/>
            </a:pPr>
            <a:r>
              <a:rPr lang="en-US" sz="2800" b="1">
                <a:ea typeface="+mn-lt"/>
                <a:cs typeface="+mn-lt"/>
              </a:rPr>
              <a:t>Project Overview:</a:t>
            </a:r>
            <a:endParaRPr lang="en-US" sz="2800">
              <a:ea typeface="+mn-lt"/>
              <a:cs typeface="+mn-lt"/>
            </a:endParaRPr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Comprehensive airline management system</a:t>
            </a:r>
            <a:endParaRPr lang="en-US" sz="2400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Utilizes </a:t>
            </a:r>
            <a:r>
              <a:rPr lang="en-US" sz="2400" err="1">
                <a:ea typeface="+mn-lt"/>
                <a:cs typeface="+mn-lt"/>
              </a:rPr>
              <a:t>LibSQL</a:t>
            </a:r>
            <a:r>
              <a:rPr lang="en-US" sz="2400">
                <a:ea typeface="+mn-lt"/>
                <a:cs typeface="+mn-lt"/>
              </a:rPr>
              <a:t> and Drizzle-ORM library</a:t>
            </a:r>
            <a:endParaRPr lang="en-US" sz="2400"/>
          </a:p>
          <a:p>
            <a:pPr>
              <a:buChar char="•"/>
            </a:pPr>
            <a:r>
              <a:rPr lang="en-US" sz="2800" b="1">
                <a:ea typeface="+mn-lt"/>
                <a:cs typeface="+mn-lt"/>
              </a:rPr>
              <a:t>Operational Aspects Managed:</a:t>
            </a:r>
            <a:endParaRPr lang="en-US" sz="2800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Airlines, Airports, Aircrafts, Routes, Flights</a:t>
            </a:r>
            <a:endParaRPr lang="en-US" sz="2400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Pilots, Crew members, Passengers,   Tickets</a:t>
            </a:r>
            <a:endParaRPr lang="en-US" sz="2400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Maintenance, Incidents</a:t>
            </a:r>
            <a:endParaRPr lang="en-US" sz="2400"/>
          </a:p>
          <a:p>
            <a:pPr>
              <a:buChar char="•"/>
            </a:pP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59170B08-B5B9-1B42-6BEA-A35B38F4E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62509"/>
            <a:ext cx="5210145" cy="472727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Char char="•"/>
            </a:pPr>
            <a:r>
              <a:rPr lang="en-US" sz="2800" b="1">
                <a:ea typeface="+mn-lt"/>
                <a:cs typeface="+mn-lt"/>
              </a:rPr>
              <a:t>Database Schema:</a:t>
            </a:r>
            <a:endParaRPr lang="en-US" sz="2800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Designed with normalization principles.</a:t>
            </a:r>
            <a:endParaRPr lang="en-US" sz="2400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Ensures data integrity and efficiency</a:t>
            </a:r>
            <a:endParaRPr lang="en-US" sz="2400"/>
          </a:p>
          <a:p>
            <a:pPr>
              <a:buChar char="•"/>
            </a:pPr>
            <a:r>
              <a:rPr lang="en-US" sz="2800" b="1">
                <a:ea typeface="+mn-lt"/>
                <a:cs typeface="+mn-lt"/>
              </a:rPr>
              <a:t>Core Tables:</a:t>
            </a:r>
            <a:endParaRPr lang="en-US" sz="2800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Airlines, Airports, Aircrafts, Routes, Flights</a:t>
            </a:r>
            <a:endParaRPr lang="en-US" sz="2400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Pilots, Crew members, Passengers, Tickets</a:t>
            </a:r>
            <a:endParaRPr lang="en-US" sz="2400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Maintenance, Incidents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9658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Entity Relationship Diagram (ERD)</a:t>
            </a:r>
          </a:p>
        </p:txBody>
      </p:sp>
      <p:pic>
        <p:nvPicPr>
          <p:cNvPr id="3" name="Picture 2" descr="A diagram of a flowchart&#10;&#10;Description automatically generated">
            <a:extLst>
              <a:ext uri="{FF2B5EF4-FFF2-40B4-BE49-F238E27FC236}">
                <a16:creationId xmlns:a16="http://schemas.microsoft.com/office/drawing/2014/main" xmlns="" id="{2FA50390-E4A1-4193-AC99-9944B198F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988" y="1680199"/>
            <a:ext cx="9136856" cy="502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8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Autofit/>
          </a:bodyPr>
          <a:lstStyle/>
          <a:p>
            <a:r>
              <a:rPr lang="en-US" sz="3600"/>
              <a:t/>
            </a:r>
            <a:br>
              <a:rPr lang="en-US" sz="3600"/>
            </a:br>
            <a:r>
              <a:rPr lang="en-US" sz="3600"/>
              <a:t>Abstract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AA515D4-6773-5317-2DB0-B2D6133FE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2459" y="1962510"/>
            <a:ext cx="5052036" cy="43965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>
                <a:ea typeface="+mn-lt"/>
                <a:cs typeface="+mn-lt"/>
              </a:rPr>
              <a:t>Table Definitions:</a:t>
            </a:r>
            <a:endParaRPr lang="en-US" sz="2800">
              <a:ea typeface="+mn-lt"/>
              <a:cs typeface="+mn-lt"/>
            </a:endParaRPr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Essential fields and constraints</a:t>
            </a:r>
            <a:endParaRPr lang="en-US" sz="2400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Primary keys, unique constraints, foreign keys</a:t>
            </a:r>
            <a:endParaRPr lang="en-US" sz="2400"/>
          </a:p>
          <a:p>
            <a:pPr marL="301625" lvl="1" indent="0">
              <a:buNone/>
            </a:pPr>
            <a:endParaRPr lang="en-US" sz="2400">
              <a:ea typeface="+mn-lt"/>
              <a:cs typeface="+mn-lt"/>
            </a:endParaRPr>
          </a:p>
          <a:p>
            <a:r>
              <a:rPr lang="en-US" sz="2800" b="1">
                <a:ea typeface="+mn-lt"/>
                <a:cs typeface="+mn-lt"/>
              </a:rPr>
              <a:t>Relationships:</a:t>
            </a:r>
            <a:endParaRPr lang="en-US" sz="2800">
              <a:ea typeface="+mn-lt"/>
              <a:cs typeface="+mn-lt"/>
            </a:endParaRPr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One-to-one, One-to-many, Many-to-many</a:t>
            </a:r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Join table for airports and airlines</a:t>
            </a:r>
            <a:endParaRPr lang="en-US"/>
          </a:p>
          <a:p>
            <a:pPr>
              <a:buFont typeface="Arial" pitchFamily="34" charset="0"/>
              <a:buChar char="•"/>
            </a:pPr>
            <a:endParaRPr lang="en-US" sz="2800" b="1"/>
          </a:p>
          <a:p>
            <a:pPr>
              <a:buChar char="•"/>
            </a:pP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59170B08-B5B9-1B42-6BEA-A35B38F4E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6815" y="1962509"/>
            <a:ext cx="5181398" cy="47272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>
                <a:ea typeface="+mn-lt"/>
                <a:cs typeface="+mn-lt"/>
              </a:rPr>
              <a:t>Technical Implementation:</a:t>
            </a:r>
            <a:endParaRPr lang="en-US" sz="2800">
              <a:ea typeface="+mn-lt"/>
              <a:cs typeface="+mn-lt"/>
            </a:endParaRPr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TypeScript for type safety and maintainability</a:t>
            </a:r>
            <a:endParaRPr lang="en-US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Drizzle-ORM with </a:t>
            </a:r>
            <a:r>
              <a:rPr lang="en-US" sz="2400" err="1">
                <a:ea typeface="+mn-lt"/>
                <a:cs typeface="+mn-lt"/>
              </a:rPr>
              <a:t>LibSQL</a:t>
            </a:r>
            <a:r>
              <a:rPr lang="en-US" sz="2400">
                <a:ea typeface="+mn-lt"/>
                <a:cs typeface="+mn-lt"/>
              </a:rPr>
              <a:t> integration</a:t>
            </a:r>
            <a:endParaRPr lang="en-US"/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ea typeface="+mn-lt"/>
                <a:cs typeface="+mn-lt"/>
              </a:rPr>
              <a:t>Use of default values, timestamps, UUIDs</a:t>
            </a:r>
            <a:endParaRPr lang="en-US"/>
          </a:p>
          <a:p>
            <a:pPr>
              <a:buChar char="•"/>
            </a:pP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282181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Unnormalized Form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522413" y="1833114"/>
            <a:ext cx="10154670" cy="223999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>
                <a:latin typeface="+mj-lt"/>
                <a:ea typeface="+mj-ea"/>
                <a:cs typeface="+mj-cs"/>
              </a:rPr>
              <a:t>This table has multiple issues:</a:t>
            </a:r>
            <a:endParaRPr lang="en-US">
              <a:ea typeface="+mj-ea"/>
              <a:cs typeface="+mj-cs"/>
            </a:endParaRPr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latin typeface="+mj-lt"/>
                <a:ea typeface="+mj-ea"/>
                <a:cs typeface="+mj-cs"/>
              </a:rPr>
              <a:t>Repeating groups (e.g., </a:t>
            </a:r>
            <a:r>
              <a:rPr lang="en-US" sz="2400" err="1">
                <a:latin typeface="+mj-lt"/>
                <a:ea typeface="+mj-ea"/>
                <a:cs typeface="+mj-cs"/>
              </a:rPr>
              <a:t>CrewMemberNames</a:t>
            </a:r>
            <a:r>
              <a:rPr lang="en-US" sz="2400">
                <a:latin typeface="+mj-lt"/>
                <a:ea typeface="+mj-ea"/>
                <a:cs typeface="+mj-cs"/>
              </a:rPr>
              <a:t> and </a:t>
            </a:r>
            <a:r>
              <a:rPr lang="en-US" sz="2400" err="1">
                <a:latin typeface="+mj-lt"/>
                <a:ea typeface="+mj-ea"/>
                <a:cs typeface="+mj-cs"/>
              </a:rPr>
              <a:t>PassengerNames</a:t>
            </a:r>
            <a:r>
              <a:rPr lang="en-US" sz="2400">
                <a:latin typeface="+mj-lt"/>
                <a:ea typeface="+mj-ea"/>
                <a:cs typeface="+mj-cs"/>
              </a:rPr>
              <a:t> contain multiple values).</a:t>
            </a:r>
          </a:p>
          <a:p>
            <a:pPr marL="575945" lvl="1">
              <a:buFont typeface="Courier New" pitchFamily="34" charset="0"/>
              <a:buChar char="o"/>
            </a:pPr>
            <a:r>
              <a:rPr lang="en-US" sz="2400">
                <a:latin typeface="+mj-lt"/>
                <a:ea typeface="+mj-ea"/>
                <a:cs typeface="+mj-cs"/>
              </a:rPr>
              <a:t>Redundant information (e.g., airline details are repeated for each flight).</a:t>
            </a:r>
          </a:p>
          <a:p>
            <a:endParaRPr lang="en-US"/>
          </a:p>
        </p:txBody>
      </p:sp>
      <p:pic>
        <p:nvPicPr>
          <p:cNvPr id="3" name="Picture 2" descr="A close-up of a sign&#10;&#10;Description automatically generated">
            <a:extLst>
              <a:ext uri="{FF2B5EF4-FFF2-40B4-BE49-F238E27FC236}">
                <a16:creationId xmlns:a16="http://schemas.microsoft.com/office/drawing/2014/main" xmlns="" id="{B71778CF-B0EA-038C-A018-1CCEBB146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" y="4020067"/>
            <a:ext cx="12193315" cy="107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30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144" y="159457"/>
            <a:ext cx="10107031" cy="769189"/>
          </a:xfrm>
        </p:spPr>
        <p:txBody>
          <a:bodyPr/>
          <a:lstStyle/>
          <a:p>
            <a:r>
              <a:rPr lang="en-US" sz="3600"/>
              <a:t>Normalized Form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94D300C-0C97-B51F-EDBB-4300167E6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4223" y="4665460"/>
            <a:ext cx="9143999" cy="1069675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342900" indent="-342900">
              <a:buChar char="•"/>
            </a:pPr>
            <a:r>
              <a:rPr lang="en-US" sz="2000">
                <a:solidFill>
                  <a:schemeClr val="tx1"/>
                </a:solidFill>
                <a:latin typeface="Calibri"/>
                <a:cs typeface="Calibri"/>
              </a:rPr>
              <a:t>Now each cell contains only a single value, and there are no repeating groups. However, redundancy and other anomalies still exist.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8DC627A-DB8A-F91E-8093-D0CC847F5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" y="2177879"/>
            <a:ext cx="12193316" cy="1053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B9A9861-6313-4D42-23FE-7E79C258B70C}"/>
              </a:ext>
            </a:extLst>
          </p:cNvPr>
          <p:cNvSpPr txBox="1"/>
          <p:nvPr/>
        </p:nvSpPr>
        <p:spPr>
          <a:xfrm>
            <a:off x="550635" y="916384"/>
            <a:ext cx="3519375" cy="535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latin typeface="Consolas"/>
                <a:cs typeface="Calibri"/>
              </a:rPr>
              <a:t>1st NF:</a:t>
            </a:r>
          </a:p>
        </p:txBody>
      </p:sp>
    </p:spTree>
    <p:extLst>
      <p:ext uri="{BB962C8B-B14F-4D97-AF65-F5344CB8AC3E}">
        <p14:creationId xmlns:p14="http://schemas.microsoft.com/office/powerpoint/2010/main" val="413515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049" y="173556"/>
            <a:ext cx="10107031" cy="1157377"/>
          </a:xfrm>
        </p:spPr>
        <p:txBody>
          <a:bodyPr/>
          <a:lstStyle/>
          <a:p>
            <a:r>
              <a:rPr lang="en-US" sz="3600"/>
              <a:t>Normalized Form</a:t>
            </a:r>
            <a:br>
              <a:rPr lang="en-US" sz="3600"/>
            </a:br>
            <a:endParaRPr lang="en-US" sz="36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94D300C-0C97-B51F-EDBB-4300167E6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4223" y="4989734"/>
            <a:ext cx="9143999" cy="1069675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342900" indent="-342900">
              <a:buChar char="•"/>
            </a:pPr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To achieve 2NF, we must remove partial dependencies. Since our current table uses </a:t>
            </a:r>
            <a:r>
              <a:rPr lang="en-US" sz="2000" err="1">
                <a:solidFill>
                  <a:srgbClr val="FFFFFF"/>
                </a:solidFill>
                <a:latin typeface="Calibri"/>
                <a:cs typeface="Calibri"/>
              </a:rPr>
              <a:t>FlightID</a:t>
            </a:r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 as the primary key, we should ensure that all non-key attributes are fully functionally dependent on </a:t>
            </a:r>
            <a:r>
              <a:rPr lang="en-US" sz="2000" err="1">
                <a:solidFill>
                  <a:srgbClr val="FFFFFF"/>
                </a:solidFill>
                <a:latin typeface="Calibri"/>
                <a:cs typeface="Calibri"/>
              </a:rPr>
              <a:t>FlightID</a:t>
            </a:r>
            <a:r>
              <a:rPr lang="en-US" sz="200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lang="en-US" sz="2000">
              <a:solidFill>
                <a:srgbClr val="FFFFFF"/>
              </a:solidFill>
              <a:latin typeface="Corbel"/>
              <a:cs typeface="Calibri"/>
            </a:endParaRPr>
          </a:p>
          <a:p>
            <a:pPr marL="285750" indent="-285750">
              <a:buChar char="•"/>
            </a:pPr>
            <a:endParaRPr lang="en-US" sz="2000">
              <a:latin typeface="Corbel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94773ED-0112-D8C6-D6BB-A9337ABD25C4}"/>
              </a:ext>
            </a:extLst>
          </p:cNvPr>
          <p:cNvSpPr txBox="1"/>
          <p:nvPr/>
        </p:nvSpPr>
        <p:spPr>
          <a:xfrm>
            <a:off x="550635" y="789494"/>
            <a:ext cx="3519375" cy="535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latin typeface="Consolas"/>
                <a:cs typeface="Calibri"/>
              </a:rPr>
              <a:t>2nd NF:</a:t>
            </a: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xmlns="" id="{45B18457-C355-11C2-AFD6-4499DD48A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467" y="1891140"/>
            <a:ext cx="10627132" cy="876300"/>
          </a:xfrm>
          <a:prstGeom prst="rect">
            <a:avLst/>
          </a:prstGeom>
        </p:spPr>
      </p:pic>
      <p:pic>
        <p:nvPicPr>
          <p:cNvPr id="5" name="Picture 4" descr="A close up of a card&#10;&#10;Description automatically generated">
            <a:extLst>
              <a:ext uri="{FF2B5EF4-FFF2-40B4-BE49-F238E27FC236}">
                <a16:creationId xmlns:a16="http://schemas.microsoft.com/office/drawing/2014/main" xmlns="" id="{5087A1F7-3BE9-8445-3664-6795E9E00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73" y="3362372"/>
            <a:ext cx="4523197" cy="838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84950012-6FFA-3897-35BB-8C3BDDE60837}"/>
              </a:ext>
            </a:extLst>
          </p:cNvPr>
          <p:cNvSpPr txBox="1"/>
          <p:nvPr/>
        </p:nvSpPr>
        <p:spPr>
          <a:xfrm>
            <a:off x="539505" y="1469024"/>
            <a:ext cx="3519375" cy="4247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>
                <a:latin typeface="Consolas"/>
                <a:cs typeface="Calibri"/>
              </a:rPr>
              <a:t>Flights Table: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076B8FB4-2A67-4ACE-1888-F1E7697D12BC}"/>
              </a:ext>
            </a:extLst>
          </p:cNvPr>
          <p:cNvSpPr txBox="1"/>
          <p:nvPr/>
        </p:nvSpPr>
        <p:spPr>
          <a:xfrm>
            <a:off x="542326" y="2938091"/>
            <a:ext cx="3519375" cy="4247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>
                <a:latin typeface="Consolas"/>
                <a:cs typeface="Calibri"/>
              </a:rPr>
              <a:t>Airlines Table:</a:t>
            </a:r>
          </a:p>
        </p:txBody>
      </p:sp>
    </p:spTree>
    <p:extLst>
      <p:ext uri="{BB962C8B-B14F-4D97-AF65-F5344CB8AC3E}">
        <p14:creationId xmlns:p14="http://schemas.microsoft.com/office/powerpoint/2010/main" val="4057684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4335" y="159457"/>
            <a:ext cx="10107031" cy="1157377"/>
          </a:xfrm>
        </p:spPr>
        <p:txBody>
          <a:bodyPr/>
          <a:lstStyle/>
          <a:p>
            <a:r>
              <a:rPr lang="en-US" sz="3600"/>
              <a:t>Normalized Form</a:t>
            </a:r>
            <a:br>
              <a:rPr lang="en-US" sz="3600"/>
            </a:br>
            <a:endParaRPr lang="en-US" sz="360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xmlns="" id="{394D300C-0C97-B51F-EDBB-4300167E6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4223" y="4750053"/>
            <a:ext cx="9143999" cy="1069675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342900" indent="-342900">
              <a:buChar char="•"/>
            </a:pPr>
            <a:r>
              <a:rPr lang="en-US" sz="1800">
                <a:ea typeface="+mn-lt"/>
                <a:cs typeface="+mn-lt"/>
              </a:rPr>
              <a:t>To achieve 3NF, we must remove transitive dependencies. That is, non-key attributes should not depend on other non-key attributes.</a:t>
            </a:r>
          </a:p>
          <a:p>
            <a:pPr marL="285750" indent="-285750">
              <a:buChar char="•"/>
            </a:pPr>
            <a:endParaRPr lang="en-US" sz="2000">
              <a:latin typeface="Corbel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694773ED-0112-D8C6-D6BB-A9337ABD25C4}"/>
              </a:ext>
            </a:extLst>
          </p:cNvPr>
          <p:cNvSpPr txBox="1"/>
          <p:nvPr/>
        </p:nvSpPr>
        <p:spPr>
          <a:xfrm>
            <a:off x="578826" y="902285"/>
            <a:ext cx="3936209" cy="5355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>
                <a:latin typeface="Consolas"/>
                <a:cs typeface="Calibri"/>
              </a:rPr>
              <a:t>3rd NF:</a:t>
            </a:r>
            <a:endParaRPr lang="en-US"/>
          </a:p>
        </p:txBody>
      </p:sp>
      <p:pic>
        <p:nvPicPr>
          <p:cNvPr id="4" name="Picture 3" descr="A white rectangular box with black text&#10;&#10;Description automatically generated">
            <a:extLst>
              <a:ext uri="{FF2B5EF4-FFF2-40B4-BE49-F238E27FC236}">
                <a16:creationId xmlns:a16="http://schemas.microsoft.com/office/drawing/2014/main" xmlns="" id="{368F923E-A567-920E-BCCE-28679409A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048" y="1966207"/>
            <a:ext cx="8598835" cy="8953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38F6802-2D6C-9F0B-2946-F74244CD4AFF}"/>
              </a:ext>
            </a:extLst>
          </p:cNvPr>
          <p:cNvSpPr txBox="1"/>
          <p:nvPr/>
        </p:nvSpPr>
        <p:spPr>
          <a:xfrm>
            <a:off x="578825" y="1550833"/>
            <a:ext cx="3519375" cy="4247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>
                <a:latin typeface="Consolas"/>
                <a:cs typeface="Calibri"/>
              </a:rPr>
              <a:t>Airline Table: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1AEB7B8-361D-9694-4B4C-E51957D392BD}"/>
              </a:ext>
            </a:extLst>
          </p:cNvPr>
          <p:cNvSpPr txBox="1"/>
          <p:nvPr/>
        </p:nvSpPr>
        <p:spPr>
          <a:xfrm>
            <a:off x="578825" y="3144004"/>
            <a:ext cx="3519375" cy="4247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>
                <a:latin typeface="Consolas"/>
                <a:cs typeface="Calibri"/>
              </a:rPr>
              <a:t>Flights Table:</a:t>
            </a:r>
            <a:endParaRPr lang="en-US" sz="2400"/>
          </a:p>
        </p:txBody>
      </p:sp>
      <p:pic>
        <p:nvPicPr>
          <p:cNvPr id="9" name="image16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78047" y="3573548"/>
            <a:ext cx="8598835" cy="88927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604991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56CE1-96F4-004D-D8EA-39489DFA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DML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6B667B-5620-EB11-35EC-17EDE059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580" y="1905000"/>
            <a:ext cx="9560834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/>
              <a:t>Insert Flight Table:</a:t>
            </a:r>
            <a:endParaRPr lang="en-US"/>
          </a:p>
          <a:p>
            <a:pPr marL="0" indent="0">
              <a:buNone/>
            </a:pPr>
            <a:endParaRPr lang="en-US" sz="320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16598AE7-DCF4-83B0-37CA-DCD10774F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689" y="3017577"/>
            <a:ext cx="9999273" cy="314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46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56CE1-96F4-004D-D8EA-39489DFA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24" y="345132"/>
            <a:ext cx="9143998" cy="1020762"/>
          </a:xfrm>
        </p:spPr>
        <p:txBody>
          <a:bodyPr>
            <a:normAutofit/>
          </a:bodyPr>
          <a:lstStyle/>
          <a:p>
            <a:r>
              <a:rPr lang="en-US" sz="3600"/>
              <a:t>DML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6B667B-5620-EB11-35EC-17EDE059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3" y="1933198"/>
            <a:ext cx="9144000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/>
              <a:t>Update Flight Table: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8C461169-AC36-3956-6444-5718C6DF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04" y="3046024"/>
            <a:ext cx="10114263" cy="2252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8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56CE1-96F4-004D-D8EA-39489DFA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24" y="345132"/>
            <a:ext cx="9143998" cy="1020762"/>
          </a:xfrm>
        </p:spPr>
        <p:txBody>
          <a:bodyPr>
            <a:normAutofit/>
          </a:bodyPr>
          <a:lstStyle/>
          <a:p>
            <a:r>
              <a:rPr lang="en-US" sz="3600"/>
              <a:t>DML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6B667B-5620-EB11-35EC-17EDE059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3" y="1933198"/>
            <a:ext cx="9144000" cy="42672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/>
              <a:t>Delete from Passengers Table: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C05E8764-BAF0-1E91-CC4E-617F729CE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070" y="2876080"/>
            <a:ext cx="9826790" cy="235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331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56CE1-96F4-004D-D8EA-39489DFA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24" y="542516"/>
            <a:ext cx="9143998" cy="733215"/>
          </a:xfrm>
        </p:spPr>
        <p:txBody>
          <a:bodyPr>
            <a:normAutofit/>
          </a:bodyPr>
          <a:lstStyle/>
          <a:p>
            <a:r>
              <a:rPr lang="en-US" sz="3600"/>
              <a:t>DDL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6B667B-5620-EB11-35EC-17EDE059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3" y="1674405"/>
            <a:ext cx="9144000" cy="5434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/>
              <a:t>Passengers Table:</a:t>
            </a:r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xmlns="" id="{5E24C5F1-FEB5-BF45-3B9E-4BB5AD7A37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95" t="9169" r="7911" b="9431"/>
          <a:stretch/>
        </p:blipFill>
        <p:spPr>
          <a:xfrm>
            <a:off x="3525170" y="2203433"/>
            <a:ext cx="4771094" cy="424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5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56CE1-96F4-004D-D8EA-39489DFA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24" y="542516"/>
            <a:ext cx="9143998" cy="733215"/>
          </a:xfrm>
        </p:spPr>
        <p:txBody>
          <a:bodyPr>
            <a:normAutofit/>
          </a:bodyPr>
          <a:lstStyle/>
          <a:p>
            <a:r>
              <a:rPr lang="en-US" sz="3600" dirty="0"/>
              <a:t>DDL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6B667B-5620-EB11-35EC-17EDE059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3" y="1674405"/>
            <a:ext cx="9144000" cy="5434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 dirty="0"/>
              <a:t>Airline Table:</a:t>
            </a:r>
          </a:p>
        </p:txBody>
      </p:sp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xmlns="" id="{1B076DBC-0D7D-F079-4583-D9621F7A97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90" t="10969" r="10390" b="10839"/>
          <a:stretch/>
        </p:blipFill>
        <p:spPr>
          <a:xfrm>
            <a:off x="3881228" y="1926712"/>
            <a:ext cx="3938055" cy="481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23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56CE1-96F4-004D-D8EA-39489DFA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24" y="542516"/>
            <a:ext cx="9143998" cy="733215"/>
          </a:xfrm>
        </p:spPr>
        <p:txBody>
          <a:bodyPr>
            <a:normAutofit/>
          </a:bodyPr>
          <a:lstStyle/>
          <a:p>
            <a:r>
              <a:rPr lang="en-US" sz="3600" dirty="0"/>
              <a:t>DDL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86B667B-5620-EB11-35EC-17EDE059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7273" y="1674405"/>
            <a:ext cx="9144000" cy="5434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/>
              <a:t>Aircraft Table:</a:t>
            </a:r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xmlns="" id="{0009C38B-5672-C960-658F-769CD65E5B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80" t="7659" r="7203" b="8438"/>
          <a:stretch/>
        </p:blipFill>
        <p:spPr>
          <a:xfrm>
            <a:off x="4037144" y="1935554"/>
            <a:ext cx="3974074" cy="473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901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56CE1-96F4-004D-D8EA-39489DFA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24" y="542516"/>
            <a:ext cx="9143998" cy="733215"/>
          </a:xfrm>
        </p:spPr>
        <p:txBody>
          <a:bodyPr>
            <a:normAutofit/>
          </a:bodyPr>
          <a:lstStyle/>
          <a:p>
            <a:r>
              <a:rPr lang="en-US" sz="3600"/>
              <a:t>Joins Queries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15953C0E-6246-CBD4-E054-BCBB4C9DF8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926" y="1961283"/>
            <a:ext cx="9294966" cy="3801465"/>
          </a:xfrm>
        </p:spPr>
      </p:pic>
    </p:spTree>
    <p:extLst>
      <p:ext uri="{BB962C8B-B14F-4D97-AF65-F5344CB8AC3E}">
        <p14:creationId xmlns:p14="http://schemas.microsoft.com/office/powerpoint/2010/main" val="256449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56CE1-96F4-004D-D8EA-39489DFA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24" y="542516"/>
            <a:ext cx="9143998" cy="733215"/>
          </a:xfrm>
        </p:spPr>
        <p:txBody>
          <a:bodyPr>
            <a:normAutofit/>
          </a:bodyPr>
          <a:lstStyle/>
          <a:p>
            <a:r>
              <a:rPr lang="en-US" sz="3600"/>
              <a:t>Joins Queries</a:t>
            </a:r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FD030238-2F14-9F0F-AA28-F8A64A36C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927" y="2209154"/>
            <a:ext cx="9294967" cy="3432403"/>
          </a:xfrm>
        </p:spPr>
      </p:pic>
    </p:spTree>
    <p:extLst>
      <p:ext uri="{BB962C8B-B14F-4D97-AF65-F5344CB8AC3E}">
        <p14:creationId xmlns:p14="http://schemas.microsoft.com/office/powerpoint/2010/main" val="367548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056CE1-96F4-004D-D8EA-39489DFA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4224" y="542516"/>
            <a:ext cx="9143998" cy="733215"/>
          </a:xfrm>
        </p:spPr>
        <p:txBody>
          <a:bodyPr>
            <a:normAutofit/>
          </a:bodyPr>
          <a:lstStyle/>
          <a:p>
            <a:r>
              <a:rPr lang="en-US" sz="3600"/>
              <a:t>Joins Queries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9B509CE2-5499-86EF-FE7E-3AA6E6AAF6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927" y="2042536"/>
            <a:ext cx="9568064" cy="4080272"/>
          </a:xfrm>
        </p:spPr>
      </p:pic>
    </p:spTree>
    <p:extLst>
      <p:ext uri="{BB962C8B-B14F-4D97-AF65-F5344CB8AC3E}">
        <p14:creationId xmlns:p14="http://schemas.microsoft.com/office/powerpoint/2010/main" val="154222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31542ECD-DCDF-AD4B-D937-45C1344D53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 You!</a:t>
            </a:r>
          </a:p>
        </p:txBody>
      </p:sp>
    </p:spTree>
    <p:extLst>
      <p:ext uri="{BB962C8B-B14F-4D97-AF65-F5344CB8AC3E}">
        <p14:creationId xmlns:p14="http://schemas.microsoft.com/office/powerpoint/2010/main" val="367068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Custom" id="{37DB63F3-72C7-4A67-82CB-DE1EC68F0B1F}" vid="{1DDF8815-C24B-4878-AB18-C1C7DB7407AA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FC92C0-A33F-467F-A65D-AA0CE0BD2B63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82B82EB-80D3-4DDB-9A53-0D22163B57B3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EBA52FF4-E484-4953-8434-9402E3BE0AB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Custom</Template>
  <TotalTime>153</TotalTime>
  <Words>295</Words>
  <Application>Microsoft Office PowerPoint</Application>
  <PresentationFormat>Custom</PresentationFormat>
  <Paragraphs>71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Consolas</vt:lpstr>
      <vt:lpstr>Corbel</vt:lpstr>
      <vt:lpstr>Courier New</vt:lpstr>
      <vt:lpstr>Custom</vt:lpstr>
      <vt:lpstr>Airline Mangement System</vt:lpstr>
      <vt:lpstr>Contents </vt:lpstr>
      <vt:lpstr> Abstract</vt:lpstr>
      <vt:lpstr>Entity Relationship Diagram (ERD)</vt:lpstr>
      <vt:lpstr> Abstract</vt:lpstr>
      <vt:lpstr>Unnormalized Form</vt:lpstr>
      <vt:lpstr>Normalized Form</vt:lpstr>
      <vt:lpstr>Normalized Form </vt:lpstr>
      <vt:lpstr>Normalized Form </vt:lpstr>
      <vt:lpstr>DML Queries</vt:lpstr>
      <vt:lpstr>DML Queries</vt:lpstr>
      <vt:lpstr>DML Queries</vt:lpstr>
      <vt:lpstr>DDL Queries</vt:lpstr>
      <vt:lpstr>DDL Queries</vt:lpstr>
      <vt:lpstr>DDL Queries</vt:lpstr>
      <vt:lpstr>Joins Queries</vt:lpstr>
      <vt:lpstr>Joins Queries</vt:lpstr>
      <vt:lpstr>Joins Queries</vt:lpstr>
      <vt:lpstr>Thank 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/>
  <cp:lastModifiedBy>DELL</cp:lastModifiedBy>
  <cp:revision>27</cp:revision>
  <dcterms:created xsi:type="dcterms:W3CDTF">2024-06-24T17:14:49Z</dcterms:created>
  <dcterms:modified xsi:type="dcterms:W3CDTF">2024-06-25T06:46:18Z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